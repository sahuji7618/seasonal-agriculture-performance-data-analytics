
<file path=[Content_Types].xml><?xml version="1.0" encoding="utf-8"?>
<Types xmlns="http://schemas.openxmlformats.org/package/2006/content-types">
  <Default Extension="jfif" ContentType="image/jpeg"/>
  <Default Extension="png" ContentType="image/png"/>
  <Default Extension="tm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50" d="100"/>
          <a:sy n="50" d="100"/>
        </p:scale>
        <p:origin x="1416" y="66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49178" y="3655498"/>
            <a:ext cx="8563782" cy="861497"/>
          </a:xfrm>
        </p:spPr>
        <p:txBody>
          <a:bodyPr vert="horz" lIns="91440" tIns="45720" rIns="91440" bIns="45720" rtlCol="0" anchor="t">
            <a:noAutofit/>
          </a:bodyPr>
          <a:lstStyle/>
          <a:p>
            <a:r>
              <a:rPr lang="en-US" sz="1800" dirty="0">
                <a:solidFill>
                  <a:schemeClr val="tx1"/>
                </a:solidFill>
                <a:latin typeface="+mn-lt"/>
              </a:rPr>
              <a:t>Student Name – TILAK RAM </a:t>
            </a:r>
            <a:endParaRPr lang="en-IN" sz="1800" dirty="0">
              <a:solidFill>
                <a:schemeClr val="tx1"/>
              </a:solidFill>
              <a:latin typeface="+mn-lt"/>
            </a:endParaRPr>
          </a:p>
          <a:p>
            <a:r>
              <a:rPr lang="en-US" sz="1800" dirty="0">
                <a:solidFill>
                  <a:schemeClr val="tx1"/>
                </a:solidFill>
                <a:latin typeface="+mn-lt"/>
              </a:rPr>
              <a:t>College Name - GURU RAM DAS INSTITUTE OF MANAGEMENT &amp; TECHNOLOGY</a:t>
            </a:r>
            <a:endParaRPr lang="en-IN" sz="1800" dirty="0">
              <a:solidFill>
                <a:schemeClr val="tx1"/>
              </a:solidFill>
              <a:latin typeface="+mn-lt"/>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062681" y="2662943"/>
            <a:ext cx="8650279" cy="925254"/>
          </a:xfrm>
        </p:spPr>
        <p:txBody>
          <a:bodyPr>
            <a:normAutofit fontScale="90000"/>
          </a:bodyPr>
          <a:lstStyle/>
          <a:p>
            <a:r>
              <a:rPr lang="en-GB" sz="3200" dirty="0"/>
              <a:t>Project Title - </a:t>
            </a:r>
            <a:r>
              <a:rPr lang="en-US" sz="3200" dirty="0"/>
              <a:t>Seasonal Agriculture Performance     Data Analytics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149176" y="4516995"/>
            <a:ext cx="7957753" cy="369332"/>
          </a:xfrm>
          <a:prstGeom prst="rect">
            <a:avLst/>
          </a:prstGeom>
          <a:noFill/>
        </p:spPr>
        <p:txBody>
          <a:bodyPr wrap="square" rtlCol="0">
            <a:spAutoFit/>
          </a:bodyPr>
          <a:lstStyle/>
          <a:p>
            <a:r>
              <a:rPr lang="en-US" b="1" dirty="0"/>
              <a:t>AICTE STU ID : STU67285ac0342081730697920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01002" y="1340528"/>
            <a:ext cx="6949204" cy="4319687"/>
          </a:xfrm>
        </p:spPr>
        <p:txBody>
          <a:bodyPr vert="horz" lIns="91440" tIns="45720" rIns="91440" bIns="45720" rtlCol="0" anchor="t">
            <a:noAutofit/>
          </a:bodyPr>
          <a:lstStyle/>
          <a:p>
            <a:pPr>
              <a:lnSpc>
                <a:spcPct val="150000"/>
              </a:lnSpc>
            </a:pPr>
            <a:r>
              <a:rPr lang="en-US" sz="1800" b="1"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a:t>
            </a:r>
          </a:p>
          <a:p>
            <a:pPr>
              <a:lnSpc>
                <a:spcPct val="150000"/>
              </a:lnSpc>
            </a:pPr>
            <a:r>
              <a:rPr lang="en-US" sz="1800" b="1" dirty="0"/>
              <a:t>The problem is to analyze the given agricultural dataset and investigate seasonal differences in agricultural performance by identifying meaningful patterns, trends, relationships and variations within the available data.</a:t>
            </a:r>
            <a:endParaRPr lang="en-IN" sz="1800" b="1"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193041"/>
            <a:ext cx="6578601" cy="1178559"/>
          </a:xfrm>
        </p:spPr>
        <p:txBody>
          <a:bodyPr>
            <a:normAutofit fontScale="90000"/>
          </a:bodyPr>
          <a:lstStyle/>
          <a:p>
            <a:r>
              <a:rPr lang="en-GB" dirty="0"/>
              <a:t>Project Description</a:t>
            </a:r>
            <a:br>
              <a:rPr lang="en-GB" dirty="0"/>
            </a:br>
            <a:br>
              <a:rPr lang="en-GB" dirty="0"/>
            </a:br>
            <a:r>
              <a:rPr lang="en-US" sz="3100" dirty="0"/>
              <a:t>Seasonal Agriculture Performance Analytics:</a:t>
            </a:r>
            <a:r>
              <a:rPr lang="en-US" sz="3100" b="0" dirty="0"/>
              <a:t> </a:t>
            </a:r>
            <a:br>
              <a:rPr lang="en-US" sz="3100" b="0" dirty="0"/>
            </a:br>
            <a:r>
              <a:rPr lang="en-US" sz="3100" b="0" dirty="0"/>
              <a:t>Analyzed agricultural data across seasons to reveal profound variations in profitability &amp; yield. Identified Kharif as most profitable (favorable conditions) &amp; Zaid as least (harsh conditions), even for staple crops. Recommended optimizing profitable seasons &amp; strategic re-evaluation for Zaid farming.</a:t>
            </a:r>
            <a:endParaRPr lang="en-IN" sz="31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D3AF20A7-3440-41AC-865B-BCAF0562EA9E}"/>
              </a:ext>
            </a:extLst>
          </p:cNvPr>
          <p:cNvSpPr>
            <a:spLocks noGrp="1" noChangeArrowheads="1"/>
          </p:cNvSpPr>
          <p:nvPr>
            <p:ph type="body" sz="quarter" idx="12"/>
          </p:nvPr>
        </p:nvSpPr>
        <p:spPr bwMode="auto">
          <a:xfrm>
            <a:off x="620008" y="2369660"/>
            <a:ext cx="9266942"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800" b="1" i="0" u="none" strike="noStrike" cap="none" normalizeH="0" baseline="0" dirty="0">
                <a:ln>
                  <a:noFill/>
                </a:ln>
                <a:solidFill>
                  <a:schemeClr val="tx1"/>
                </a:solidFill>
                <a:effectLst/>
              </a:rPr>
              <a:t>Business Executives &amp; Decision Makers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800" b="1" i="0" u="none" strike="noStrike" cap="none" normalizeH="0" baseline="0" dirty="0">
                <a:ln>
                  <a:noFill/>
                </a:ln>
                <a:solidFill>
                  <a:schemeClr val="tx1"/>
                </a:solidFill>
                <a:effectLst/>
              </a:rPr>
              <a:t>Data Analysts &amp; Researchers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800" b="1" i="0" u="none" strike="noStrike" cap="none" normalizeH="0" baseline="0" dirty="0">
                <a:ln>
                  <a:noFill/>
                </a:ln>
                <a:solidFill>
                  <a:schemeClr val="tx1"/>
                </a:solidFill>
                <a:effectLst/>
              </a:rPr>
              <a:t>Departmental Managers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212849" y="273596"/>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00FA31EA-326B-43FA-AD68-522142B5353B}"/>
              </a:ext>
            </a:extLst>
          </p:cNvPr>
          <p:cNvSpPr>
            <a:spLocks noGrp="1" noChangeArrowheads="1"/>
          </p:cNvSpPr>
          <p:nvPr>
            <p:ph type="body" sz="quarter" idx="12"/>
          </p:nvPr>
        </p:nvSpPr>
        <p:spPr bwMode="auto">
          <a:xfrm>
            <a:off x="1212849" y="1278384"/>
            <a:ext cx="857885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Programming Language:</a:t>
            </a:r>
            <a:r>
              <a:rPr kumimoji="0" lang="en-US" altLang="en-US" sz="2800" b="0" i="0" u="none" strike="noStrike" cap="none" normalizeH="0" baseline="0" dirty="0">
                <a:ln>
                  <a:noFill/>
                </a:ln>
                <a:solidFill>
                  <a:schemeClr val="tx1"/>
                </a:solidFill>
                <a:effectLst/>
              </a:rPr>
              <a:t> Python 3.x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Data Processing:</a:t>
            </a:r>
            <a:r>
              <a:rPr kumimoji="0" lang="en-US" altLang="en-US" sz="2800" b="0" i="0" u="none" strike="noStrike" cap="none" normalizeH="0" baseline="0" dirty="0">
                <a:ln>
                  <a:noFill/>
                </a:ln>
                <a:solidFill>
                  <a:schemeClr val="tx1"/>
                </a:solidFill>
                <a:effectLst/>
              </a:rPr>
              <a:t> Pandas, NumPy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Visualization Libraries:</a:t>
            </a:r>
            <a:r>
              <a:rPr kumimoji="0" lang="en-US" altLang="en-US" sz="2800" b="0" i="0" u="none" strike="noStrike" cap="none" normalizeH="0" baseline="0" dirty="0">
                <a:ln>
                  <a:noFill/>
                </a:ln>
                <a:solidFill>
                  <a:schemeClr val="tx1"/>
                </a:solidFill>
                <a:effectLst/>
              </a:rPr>
              <a:t> Matplotlib, Seaborn, </a:t>
            </a:r>
            <a:r>
              <a:rPr kumimoji="0" lang="en-US" altLang="en-US" sz="2800" b="0" i="0" u="none" strike="noStrike" cap="none" normalizeH="0" baseline="0" dirty="0" err="1">
                <a:ln>
                  <a:noFill/>
                </a:ln>
                <a:solidFill>
                  <a:schemeClr val="tx1"/>
                </a:solidFill>
                <a:effectLst/>
              </a:rPr>
              <a:t>Plotly</a:t>
            </a:r>
            <a:r>
              <a:rPr kumimoji="0" lang="en-US" altLang="en-US" sz="2800" b="0" i="0" u="none" strike="noStrike" cap="none" normalizeH="0" baseline="0" dirty="0">
                <a:ln>
                  <a:noFill/>
                </a:ln>
                <a:solidFill>
                  <a:schemeClr val="tx1"/>
                </a:solidFill>
                <a:effectLst/>
              </a:rPr>
              <a:t> / Power BI / Tableau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Environment / IDE:</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err="1">
                <a:ln>
                  <a:noFill/>
                </a:ln>
                <a:solidFill>
                  <a:schemeClr val="tx1"/>
                </a:solidFill>
                <a:effectLst/>
              </a:rPr>
              <a:t>Jupyter</a:t>
            </a:r>
            <a:r>
              <a:rPr kumimoji="0" lang="en-US" altLang="en-US" sz="2800" b="0" i="0" u="none" strike="noStrike" cap="none" normalizeH="0" baseline="0" dirty="0">
                <a:ln>
                  <a:noFill/>
                </a:ln>
                <a:solidFill>
                  <a:schemeClr val="tx1"/>
                </a:solidFill>
                <a:effectLst/>
              </a:rPr>
              <a:t> Notebook / Google </a:t>
            </a:r>
            <a:r>
              <a:rPr kumimoji="0" lang="en-US" altLang="en-US" sz="2800" b="0" i="0" u="none" strike="noStrike" cap="none" normalizeH="0" baseline="0" dirty="0" err="1">
                <a:ln>
                  <a:noFill/>
                </a:ln>
                <a:solidFill>
                  <a:schemeClr val="tx1"/>
                </a:solidFill>
                <a:effectLst/>
              </a:rPr>
              <a:t>Colab</a:t>
            </a:r>
            <a:r>
              <a:rPr kumimoji="0" lang="en-US" altLang="en-US" sz="2800" b="0" i="0" u="none" strike="noStrike" cap="none" normalizeH="0" baseline="0" dirty="0">
                <a:ln>
                  <a:noFill/>
                </a:ln>
                <a:solidFill>
                  <a:schemeClr val="tx1"/>
                </a:solidFill>
                <a:effectLst/>
              </a:rPr>
              <a:t> / VS Code</a:t>
            </a:r>
          </a:p>
          <a:p>
            <a:pPr marL="0" indent="0" defTabSz="914400" eaLnBrk="0" fontAlgn="base" hangingPunct="0">
              <a:lnSpc>
                <a:spcPct val="100000"/>
              </a:lnSpc>
              <a:spcBef>
                <a:spcPct val="0"/>
              </a:spcBef>
              <a:spcAft>
                <a:spcPct val="0"/>
              </a:spcAft>
              <a:buClrTx/>
              <a:buSzTx/>
              <a:buFontTx/>
              <a:buChar char="•"/>
            </a:pPr>
            <a:r>
              <a:rPr lang="en-US" altLang="en-US" sz="2800" b="1" dirty="0">
                <a:solidFill>
                  <a:schemeClr val="tx1"/>
                </a:solidFill>
              </a:rPr>
              <a:t>Version Control:</a:t>
            </a:r>
            <a:r>
              <a:rPr lang="en-US" altLang="en-US" sz="2800" dirty="0">
                <a:solidFill>
                  <a:schemeClr val="tx1"/>
                </a:solidFill>
              </a:rPr>
              <a:t> Git &amp; GitHub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288544" y="159079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10032286" cy="3291818"/>
          </a:xfrm>
        </p:spPr>
        <p:txBody>
          <a:bodyPr vert="horz" lIns="91440" tIns="45720" rIns="91440" bIns="45720" rtlCol="0" anchor="t">
            <a:normAutofit/>
          </a:bodyPr>
          <a:lstStyle/>
          <a:p>
            <a:pPr marL="0" indent="0">
              <a:buNone/>
            </a:pPr>
            <a:r>
              <a:rPr lang="en-US" sz="2400" b="1" dirty="0"/>
              <a:t>Data Preprocessing &amp; Exploratory Analysis</a:t>
            </a:r>
          </a:p>
          <a:p>
            <a:pPr marL="0" indent="0">
              <a:buNone/>
            </a:pPr>
            <a:endParaRPr lang="en-IN" dirty="0"/>
          </a:p>
          <a:p>
            <a:pPr marL="0" indent="0">
              <a:buNone/>
            </a:pPr>
            <a:endParaRPr lang="en-IN" dirty="0"/>
          </a:p>
        </p:txBody>
      </p:sp>
      <p:sp>
        <p:nvSpPr>
          <p:cNvPr id="3" name="Rectangle 2">
            <a:extLst>
              <a:ext uri="{FF2B5EF4-FFF2-40B4-BE49-F238E27FC236}">
                <a16:creationId xmlns:a16="http://schemas.microsoft.com/office/drawing/2014/main" id="{E5F65F83-B51F-4393-B1DC-76C48E46AD03}"/>
              </a:ext>
            </a:extLst>
          </p:cNvPr>
          <p:cNvSpPr>
            <a:spLocks noChangeArrowheads="1"/>
          </p:cNvSpPr>
          <p:nvPr/>
        </p:nvSpPr>
        <p:spPr bwMode="auto">
          <a:xfrm>
            <a:off x="675957" y="2346248"/>
            <a:ext cx="897569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Focus:</a:t>
            </a:r>
            <a:r>
              <a:rPr kumimoji="0" lang="en-US" altLang="en-US" sz="2400" b="0" i="0" u="none" strike="noStrike" cap="none" normalizeH="0" baseline="0" dirty="0">
                <a:ln>
                  <a:noFill/>
                </a:ln>
                <a:solidFill>
                  <a:schemeClr val="tx1"/>
                </a:solidFill>
                <a:effectLst/>
                <a:latin typeface="Arial" panose="020B0604020202020204" pitchFamily="34" charset="0"/>
              </a:rPr>
              <a:t> Data Cleaning, Summary Statistics, and Distribution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Key Insights:</a:t>
            </a:r>
            <a:r>
              <a:rPr kumimoji="0" lang="en-US" altLang="en-US" sz="2400" b="0" i="0" u="none" strike="noStrike" cap="none" normalizeH="0" baseline="0" dirty="0">
                <a:ln>
                  <a:noFill/>
                </a:ln>
                <a:solidFill>
                  <a:schemeClr val="tx1"/>
                </a:solidFill>
                <a:effectLst/>
                <a:latin typeface="Arial" panose="020B0604020202020204" pitchFamily="34" charset="0"/>
              </a:rPr>
              <a:t> Handled missing values, removed outliers, and validated data types to ensure high analytical accuracy.</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6660436" cy="477520"/>
          </a:xfrm>
        </p:spPr>
        <p:txBody>
          <a:bodyPr>
            <a:noAutofit/>
          </a:bodyPr>
          <a:lstStyle/>
          <a:p>
            <a:pPr marL="0" indent="0">
              <a:buNone/>
            </a:pPr>
            <a:r>
              <a:rPr lang="en-US" sz="2400" b="1" dirty="0"/>
              <a:t>Trend Analysis &amp; KPI Dashboard</a:t>
            </a:r>
            <a:endParaRPr lang="en-IN" sz="2400" b="1" dirty="0"/>
          </a:p>
        </p:txBody>
      </p:sp>
      <p:sp>
        <p:nvSpPr>
          <p:cNvPr id="9" name="Text Placeholder 1">
            <a:extLst>
              <a:ext uri="{FF2B5EF4-FFF2-40B4-BE49-F238E27FC236}">
                <a16:creationId xmlns:a16="http://schemas.microsoft.com/office/drawing/2014/main" id="{5E494A1A-0E98-4AE2-A6C9-B147F0E3D4AF}"/>
              </a:ext>
            </a:extLst>
          </p:cNvPr>
          <p:cNvSpPr txBox="1">
            <a:spLocks/>
          </p:cNvSpPr>
          <p:nvPr/>
        </p:nvSpPr>
        <p:spPr>
          <a:xfrm>
            <a:off x="675956" y="2065534"/>
            <a:ext cx="12182794" cy="397331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panose="05000000000000000000" pitchFamily="2" charset="2"/>
              <a:buNone/>
            </a:pPr>
            <a:endParaRPr lang="en-IN" sz="2400" b="1" dirty="0"/>
          </a:p>
        </p:txBody>
      </p:sp>
      <p:sp>
        <p:nvSpPr>
          <p:cNvPr id="2" name="Rectangle 1">
            <a:extLst>
              <a:ext uri="{FF2B5EF4-FFF2-40B4-BE49-F238E27FC236}">
                <a16:creationId xmlns:a16="http://schemas.microsoft.com/office/drawing/2014/main" id="{32045EFE-1144-47E1-8D19-B0387550CB9B}"/>
              </a:ext>
            </a:extLst>
          </p:cNvPr>
          <p:cNvSpPr>
            <a:spLocks noChangeArrowheads="1"/>
          </p:cNvSpPr>
          <p:nvPr/>
        </p:nvSpPr>
        <p:spPr bwMode="auto">
          <a:xfrm>
            <a:off x="675956" y="2465478"/>
            <a:ext cx="842994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Focus:</a:t>
            </a:r>
            <a:r>
              <a:rPr kumimoji="0" lang="en-US" altLang="en-US" sz="2400" b="0" i="0" u="none" strike="noStrike" cap="none" normalizeH="0" baseline="0" dirty="0">
                <a:ln>
                  <a:noFill/>
                </a:ln>
                <a:solidFill>
                  <a:schemeClr val="tx1"/>
                </a:solidFill>
                <a:effectLst/>
                <a:latin typeface="Arial" panose="020B0604020202020204" pitchFamily="34" charset="0"/>
              </a:rPr>
              <a:t> Visual Insights &amp; Correlation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Key Insights:</a:t>
            </a:r>
            <a:r>
              <a:rPr kumimoji="0" lang="en-US" altLang="en-US" sz="2400" b="0" i="0" u="none" strike="noStrike" cap="none" normalizeH="0" baseline="0" dirty="0">
                <a:ln>
                  <a:noFill/>
                </a:ln>
                <a:solidFill>
                  <a:schemeClr val="tx1"/>
                </a:solidFill>
                <a:effectLst/>
                <a:latin typeface="Arial" panose="020B0604020202020204" pitchFamily="34" charset="0"/>
              </a:rPr>
              <a:t> Evaluated historical trends across key parameters and identified strong correlations between primary feature variables using heatmaps.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endCondLst>
                                    <p:cond evt="begin" delay="0">
                                      <p:tn val="33"/>
                                    </p:cond>
                                  </p:end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fade">
                                      <p:cBhvr>
                                        <p:cTn id="35" dur="1000"/>
                                        <p:tgtEl>
                                          <p:spTgt spid="9">
                                            <p:txEl>
                                              <p:pRg st="0" end="0"/>
                                            </p:txEl>
                                          </p:spTgt>
                                        </p:tgtEl>
                                      </p:cBhvr>
                                    </p:animEffect>
                                    <p:anim calcmode="lin" valueType="num">
                                      <p:cBhvr>
                                        <p:cTn id="36"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171731"/>
            <a:ext cx="6882091" cy="873357"/>
          </a:xfrm>
        </p:spPr>
        <p:txBody>
          <a:bodyPr>
            <a:noAutofit/>
          </a:bodyPr>
          <a:lstStyle/>
          <a:p>
            <a:pPr marL="0" indent="0">
              <a:buNone/>
            </a:pPr>
            <a:r>
              <a:rPr lang="en-US" sz="2400" b="1" dirty="0"/>
              <a:t>Comparative &amp; Interactive Visualizations</a:t>
            </a:r>
            <a:endParaRPr lang="en-IN" sz="2400" b="1" dirty="0"/>
          </a:p>
        </p:txBody>
      </p:sp>
      <p:sp>
        <p:nvSpPr>
          <p:cNvPr id="2" name="Rectangle 1">
            <a:extLst>
              <a:ext uri="{FF2B5EF4-FFF2-40B4-BE49-F238E27FC236}">
                <a16:creationId xmlns:a16="http://schemas.microsoft.com/office/drawing/2014/main" id="{C648103A-705E-4C33-8454-D82EDEC74B99}"/>
              </a:ext>
            </a:extLst>
          </p:cNvPr>
          <p:cNvSpPr>
            <a:spLocks noChangeArrowheads="1"/>
          </p:cNvSpPr>
          <p:nvPr/>
        </p:nvSpPr>
        <p:spPr bwMode="auto">
          <a:xfrm>
            <a:off x="675957" y="2288045"/>
            <a:ext cx="947769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Focus:</a:t>
            </a:r>
            <a:r>
              <a:rPr kumimoji="0" lang="en-US" altLang="en-US" sz="2800" b="0" i="0" u="none" strike="noStrike" cap="none" normalizeH="0" baseline="0" dirty="0">
                <a:ln>
                  <a:noFill/>
                </a:ln>
                <a:solidFill>
                  <a:schemeClr val="tx1"/>
                </a:solidFill>
                <a:effectLst/>
              </a:rPr>
              <a:t> Segment Comparison &amp; Final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Key Insights:</a:t>
            </a:r>
            <a:r>
              <a:rPr kumimoji="0" lang="en-US" altLang="en-US" sz="2800" b="0" i="0" u="none" strike="noStrike" cap="none" normalizeH="0" baseline="0" dirty="0">
                <a:ln>
                  <a:noFill/>
                </a:ln>
                <a:solidFill>
                  <a:schemeClr val="tx1"/>
                </a:solidFill>
                <a:effectLst/>
              </a:rPr>
              <a:t> Highlighted top-performing categories and anomalous variations, providing clear visual metrics for business decision-making.</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11C9EC6-8BDE-4EEA-9B4C-3731A111EB23}"/>
              </a:ext>
            </a:extLst>
          </p:cNvPr>
          <p:cNvPicPr>
            <a:picLocks noChangeAspect="1"/>
          </p:cNvPicPr>
          <p:nvPr/>
        </p:nvPicPr>
        <p:blipFill>
          <a:blip r:embed="rId3"/>
          <a:stretch>
            <a:fillRect/>
          </a:stretch>
        </p:blipFill>
        <p:spPr>
          <a:xfrm>
            <a:off x="675957" y="1201586"/>
            <a:ext cx="8620443" cy="507729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9E046F2-8860-45FB-966F-05BEEF295BC6}"/>
              </a:ext>
            </a:extLst>
          </p:cNvPr>
          <p:cNvPicPr>
            <a:picLocks noChangeAspect="1"/>
          </p:cNvPicPr>
          <p:nvPr/>
        </p:nvPicPr>
        <p:blipFill rotWithShape="1">
          <a:blip r:embed="rId3"/>
          <a:srcRect t="1400" r="3963"/>
          <a:stretch/>
        </p:blipFill>
        <p:spPr>
          <a:xfrm>
            <a:off x="675957" y="1201586"/>
            <a:ext cx="8772843" cy="519654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C525E441-C9F5-471F-9555-FDA1EA8E96AB}"/>
              </a:ext>
            </a:extLst>
          </p:cNvPr>
          <p:cNvSpPr>
            <a:spLocks noChangeArrowheads="1"/>
          </p:cNvSpPr>
          <p:nvPr/>
        </p:nvSpPr>
        <p:spPr bwMode="auto">
          <a:xfrm>
            <a:off x="675957" y="1275371"/>
            <a:ext cx="9172893" cy="405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Real-time Pipeline Integration:</a:t>
            </a:r>
            <a:r>
              <a:rPr kumimoji="0" lang="en-US" altLang="en-US" sz="2800" b="0" i="0" u="none" strike="noStrike" cap="none" normalizeH="0" baseline="0" dirty="0">
                <a:ln>
                  <a:noFill/>
                </a:ln>
                <a:solidFill>
                  <a:schemeClr val="tx1"/>
                </a:solidFill>
                <a:effectLst/>
              </a:rPr>
              <a:t> Connect live database streams (e.g., PostgreSQL, AWS S3) for continuous data ingestion.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Predictive Modeling:</a:t>
            </a:r>
            <a:r>
              <a:rPr kumimoji="0" lang="en-US" altLang="en-US" sz="2800" b="0" i="0" u="none" strike="noStrike" cap="none" normalizeH="0" baseline="0" dirty="0">
                <a:ln>
                  <a:noFill/>
                </a:ln>
                <a:solidFill>
                  <a:schemeClr val="tx1"/>
                </a:solidFill>
                <a:effectLst/>
              </a:rPr>
              <a:t> Incorporate Machine Learning models (e.g., forecasting, clustering) alongside visual analytics.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Automated Reporting:</a:t>
            </a:r>
            <a:r>
              <a:rPr kumimoji="0" lang="en-US" altLang="en-US" sz="2800" b="0" i="0" u="none" strike="noStrike" cap="none" normalizeH="0" baseline="0" dirty="0">
                <a:ln>
                  <a:noFill/>
                </a:ln>
                <a:solidFill>
                  <a:schemeClr val="tx1"/>
                </a:solidFill>
                <a:effectLst/>
              </a:rPr>
              <a:t> Add automated PDF/Email summary report generation scheduled on a daily or weekly basis.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85987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327BF4B7-0B45-4163-AA13-A8370404CC01}"/>
              </a:ext>
            </a:extLst>
          </p:cNvPr>
          <p:cNvSpPr/>
          <p:nvPr/>
        </p:nvSpPr>
        <p:spPr>
          <a:xfrm>
            <a:off x="675957" y="2152651"/>
            <a:ext cx="8106093" cy="1077218"/>
          </a:xfrm>
          <a:prstGeom prst="rect">
            <a:avLst/>
          </a:prstGeom>
        </p:spPr>
        <p:txBody>
          <a:bodyPr wrap="square">
            <a:spAutoFit/>
          </a:bodyPr>
          <a:lstStyle/>
          <a:p>
            <a:r>
              <a:rPr lang="en-US" sz="3200" dirty="0"/>
              <a:t>https://github.com/sahuji7618/Seasonal-Agriculture-Performance-Data-Analytics.git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F8BCA26-9440-4C55-B3DE-5F6455D88E40}"/>
              </a:ext>
            </a:extLst>
          </p:cNvPr>
          <p:cNvPicPr>
            <a:picLocks noChangeAspect="1"/>
          </p:cNvPicPr>
          <p:nvPr/>
        </p:nvPicPr>
        <p:blipFill>
          <a:blip r:embed="rId3"/>
          <a:stretch>
            <a:fillRect/>
          </a:stretch>
        </p:blipFill>
        <p:spPr>
          <a:xfrm>
            <a:off x="871026" y="1428750"/>
            <a:ext cx="7656433" cy="505866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740410"/>
          </a:xfrm>
          <a:prstGeom prst="rect">
            <a:avLst/>
          </a:prstGeom>
        </p:spPr>
        <p:txBody>
          <a:bodyPr anchor="ctr">
            <a:noAutofit/>
          </a:bodyPr>
          <a:lstStyle/>
          <a:p>
            <a:r>
              <a:rPr lang="en-US" sz="5400" b="1" dirty="0">
                <a:solidFill>
                  <a:schemeClr val="tx1"/>
                </a:solidFill>
              </a:rPr>
              <a:t>     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 name="Rectangle 1">
            <a:extLst>
              <a:ext uri="{FF2B5EF4-FFF2-40B4-BE49-F238E27FC236}">
                <a16:creationId xmlns:a16="http://schemas.microsoft.com/office/drawing/2014/main" id="{B10F7299-F5D9-4AA5-9CEC-9AABBEC65D4B}"/>
              </a:ext>
            </a:extLst>
          </p:cNvPr>
          <p:cNvSpPr/>
          <p:nvPr/>
        </p:nvSpPr>
        <p:spPr>
          <a:xfrm>
            <a:off x="1485900" y="1611002"/>
            <a:ext cx="8058150" cy="3970318"/>
          </a:xfrm>
          <a:prstGeom prst="rect">
            <a:avLst/>
          </a:prstGeom>
        </p:spPr>
        <p:txBody>
          <a:bodyPr wrap="square">
            <a:spAutoFit/>
          </a:bodyPr>
          <a:lstStyle/>
          <a:p>
            <a:r>
              <a:rPr lang="en-US" sz="2800" dirty="0"/>
              <a:t>This project delivers a seasonal agricultural performance analysis by transforming dataset metrics into visual insights and yield models across Kharif, Rabi, and Zaid seasons. Built with Python, Pandas, Seaborn, and </a:t>
            </a:r>
            <a:r>
              <a:rPr lang="en-US" sz="2800" dirty="0" err="1"/>
              <a:t>Scikit</a:t>
            </a:r>
            <a:r>
              <a:rPr lang="en-US" sz="2800" dirty="0"/>
              <a:t>-learn, it highlights crop drivers and seasonal profitability. Sincere thanks to VOIS and AICTE for their invaluable guidance in this Data Visualization program.</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609</TotalTime>
  <Words>503</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Data Analytics</vt:lpstr>
      <vt:lpstr>PROBLEM  STATEMENT</vt:lpstr>
      <vt:lpstr>Project Description  Seasonal Agriculture Performance Analytics:  Analyzed agricultural data across seasons to reveal profound variations in profitability &amp; yield. Identified Kharif as most profitable (favorable conditions) &amp; Zaid as least (harsh conditions), even for staple crops. Recommended optimizing profitable seasons &amp; strategic re-evaluation for Zaid farming.</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 303</cp:lastModifiedBy>
  <cp:revision>103</cp:revision>
  <dcterms:created xsi:type="dcterms:W3CDTF">2021-07-11T13:13:15Z</dcterms:created>
  <dcterms:modified xsi:type="dcterms:W3CDTF">2026-09-09T12:25:03Z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